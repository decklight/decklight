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steps. The arrows are snapped, so this is a diagram even under --shapes strict.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Shapes, as PowerPoint writes them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fixture for decklight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text box (txBox="1"), beside a subtitle — this slide stays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an order flows</a:t>
            </a:r>
          </a:p>
        </p:txBody>
      </p:sp>
      <p:sp>
        <p:nvSpPr>
          <p:cNvPr id="3" name="Chevron 2"/>
          <p:cNvSpPr/>
          <p:nvPr/>
        </p:nvSpPr>
        <p:spPr>
          <a:xfrm>
            <a:off x="914400" y="1828800"/>
            <a:ext cx="2743200" cy="10972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Plan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0" y="1828800"/>
            <a:ext cx="2743200" cy="10972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Build</a:t>
            </a:r>
          </a:p>
        </p:txBody>
      </p:sp>
      <p:sp>
        <p:nvSpPr>
          <p:cNvPr id="5" name="Chevron 4"/>
          <p:cNvSpPr/>
          <p:nvPr/>
        </p:nvSpPr>
        <p:spPr>
          <a:xfrm>
            <a:off x="8229600" y="1828800"/>
            <a:ext cx="2743200" cy="10972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Ship</a:t>
            </a:r>
          </a:p>
        </p:txBody>
      </p:sp>
      <p:cxnSp>
        <p:nvCxnSpPr>
          <p:cNvPr id="6" name="Connector 5"/>
          <p:cNvCxnSpPr>
            <a:stCxn id="3" idx="3"/>
            <a:endCxn id="4" idx="1"/>
          </p:cNvCxnSpPr>
          <p:nvPr/>
        </p:nvCxnSpPr>
        <p:spPr>
          <a:xfrm flipV="1">
            <a:off x="3657600" y="2377440"/>
            <a:ext cx="9144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4" idx="3"/>
            <a:endCxn id="5" idx="1"/>
          </p:cNvCxnSpPr>
          <p:nvPr/>
        </p:nvCxnSpPr>
        <p:spPr>
          <a:xfrm flipV="1">
            <a:off x="7315200" y="2377440"/>
            <a:ext cx="9144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84048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114800" y="1463040"/>
            <a:ext cx="6537960" cy="3803904"/>
            <a:chOff x="914400" y="1828800"/>
            <a:chExt cx="5029200" cy="292608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828800"/>
              <a:ext cx="2286000" cy="914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API</a:t>
              </a:r>
            </a:p>
          </p:txBody>
        </p:sp>
        <p:sp>
          <p:nvSpPr>
            <p:cNvPr id="5" name="Can 4"/>
            <p:cNvSpPr/>
            <p:nvPr/>
          </p:nvSpPr>
          <p:spPr>
            <a:xfrm>
              <a:off x="4572000" y="1828800"/>
              <a:ext cx="1371600" cy="1280160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Ledger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1097280" y="3657600"/>
              <a:ext cx="1828800" cy="109728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valid?</a:t>
              </a:r>
            </a:p>
          </p:txBody>
        </p:sp>
        <p:cxnSp>
          <p:nvCxnSpPr>
            <p:cNvPr id="7" name="Connector 6"/>
            <p:cNvCxnSpPr>
              <a:stCxn id="4" idx="3"/>
              <a:endCxn id="5" idx="1"/>
            </p:cNvCxnSpPr>
            <p:nvPr/>
          </p:nvCxnSpPr>
          <p:spPr>
            <a:xfrm>
              <a:off x="3200400" y="2286000"/>
              <a:ext cx="1371600" cy="18288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011680" y="2788920"/>
              <a:ext cx="0" cy="822960"/>
            </a:xfrm>
            <a:prstGeom prst="line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ounded Rectangle 8"/>
          <p:cNvSpPr/>
          <p:nvPr/>
        </p:nvSpPr>
        <p:spPr>
          <a:xfrm>
            <a:off x="548640" y="1280160"/>
            <a:ext cx="3200400" cy="438912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one process</a:t>
            </a:r>
          </a:p>
        </p:txBody>
      </p:sp>
      <p:sp>
        <p:nvSpPr>
          <p:cNvPr id="10" name="Rectangle 9"/>
          <p:cNvSpPr/>
          <p:nvPr/>
        </p:nvSpPr>
        <p:spPr>
          <a:xfrm rot="720000">
            <a:off x="914400" y="2194560"/>
            <a:ext cx="21945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worker</a:t>
            </a:r>
          </a:p>
        </p:txBody>
      </p:sp>
      <p:sp>
        <p:nvSpPr>
          <p:cNvPr id="11" name="Right Arrow 10"/>
          <p:cNvSpPr/>
          <p:nvPr/>
        </p:nvSpPr>
        <p:spPr>
          <a:xfrm flipH="1">
            <a:off x="1097280" y="3840480"/>
            <a:ext cx="1828800" cy="8229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screen, annotated</a:t>
            </a:r>
          </a:p>
        </p:txBody>
      </p:sp>
      <p:pic>
        <p:nvPicPr>
          <p:cNvPr id="3" name="Picture 2" descr="decklight-fixture-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852160" cy="329184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>
            <a:off x="6949440" y="2377440"/>
            <a:ext cx="173736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949440" y="4023360"/>
            <a:ext cx="173736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ular Callout 5"/>
          <p:cNvSpPr/>
          <p:nvPr/>
        </p:nvSpPr>
        <p:spPr>
          <a:xfrm>
            <a:off x="8778240" y="1920240"/>
            <a:ext cx="2743200" cy="914400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the button that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374903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and the total,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Drawn by hand</a:t>
            </a:r>
          </a:p>
        </p:txBody>
      </p:sp>
      <p:sp>
        <p:nvSpPr>
          <p:cNvPr id="3" name="Freeform 2"/>
          <p:cNvSpPr/>
          <p:nvPr/>
        </p:nvSpPr>
        <p:spPr>
          <a:xfrm>
            <a:off x="914400" y="1828800"/>
            <a:ext cx="2743200" cy="2377440"/>
          </a:xfrm>
          <a:custGeom>
            <a:avLst/>
            <a:gdLst/>
            <a:ahLst/>
            <a:cxnLst/>
            <a:rect l="l" t="t" r="r" b="b"/>
            <a:pathLst>
              <a:path w="2743200" h="2377440">
                <a:moveTo>
                  <a:pt x="0" y="914400"/>
                </a:moveTo>
                <a:lnTo>
                  <a:pt x="1371600" y="0"/>
                </a:lnTo>
                <a:lnTo>
                  <a:pt x="2743200" y="914400"/>
                </a:lnTo>
                <a:lnTo>
                  <a:pt x="2194560" y="2377440"/>
                </a:lnTo>
                <a:lnTo>
                  <a:pt x="548640" y="237744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blob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4572000" y="2011680"/>
            <a:ext cx="1463040" cy="146304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wow</a:t>
            </a:r>
          </a:p>
        </p:txBody>
      </p:sp>
      <p:sp>
        <p:nvSpPr>
          <p:cNvPr id="5" name="Hexagon 4"/>
          <p:cNvSpPr/>
          <p:nvPr/>
        </p:nvSpPr>
        <p:spPr>
          <a:xfrm>
            <a:off x="6400800" y="2011680"/>
            <a:ext cx="1828800" cy="146304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hex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4572000" y="4023360"/>
            <a:ext cx="3657600" cy="91440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011680"/>
            <a:ext cx="2926080" cy="2926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The service</a:t>
            </a:r>
          </a:p>
          <a:p>
            <a:pPr lvl="1"/>
            <a:r>
              <a:t>owns the ledger</a:t>
            </a:r>
          </a:p>
          <a:p>
            <a:pPr lvl="1"/>
            <a:r>
              <a:t>settles nightly</a:t>
            </a:r>
          </a:p>
          <a:p>
            <a:pPr lvl="1"/>
            <a:r>
              <a:t>answers in under a second</a:t>
            </a:r>
          </a:p>
          <a:p>
            <a:pPr lvl="1"/>
            <a:r>
              <a:t>and never loses a 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one</a:t>
            </a:r>
          </a:p>
          <a:p>
            <a:r>
              <a:t>left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right one</a:t>
            </a:r>
          </a:p>
          <a:p>
            <a:r>
              <a:t>right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