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</Relationships>
</file>

<file path=ppt/diagrams/data1.xml><?xml version="1.0" encoding="utf-8"?>
<dgm:dataModel xmlns:dgm="http://schemas.openxmlformats.org/drawingml/2006/diagram" xmlns:a="http://schemas.openxmlformats.org/drawingml/2006/main">
  <dgm:ptLst>
    <dgm:pt modelId="{D0}" type="doc">
      <dgm:prSet loTypeId="urn:microsoft.com/office/officeart/2005/8/layout/process1"/>
    </dgm:pt>
    <dgm:pt modelId="{N1}">
      <dgm:prSet/>
      <dgm:spPr/>
      <dgm:t>
        <a:bodyPr/>
        <a:lstStyle/>
        <a:p>
          <a:r>
            <a:rPr lang="en-GB"/>
            <a:t>Discover</a:t>
          </a:r>
        </a:p>
      </dgm:t>
    </dgm:pt>
    <dgm:pt modelId="{N2}">
      <dgm:prSet/>
      <dgm:spPr/>
      <dgm:t>
        <a:bodyPr/>
        <a:lstStyle/>
        <a:p>
          <a:r>
            <a:rPr lang="en-GB"/>
            <a:t>Design &amp; build</a:t>
          </a:r>
        </a:p>
      </dgm:t>
    </dgm:pt>
    <dgm:pt modelId="{N3}">
      <dgm:prSet/>
      <dgm:spPr/>
      <dgm:t>
        <a:bodyPr/>
        <a:lstStyle/>
        <a:p>
          <a:r>
            <a:rPr lang="en-GB"/>
            <a:t>Beta</a:t>
          </a:r>
        </a:p>
      </dgm:t>
    </dgm:pt>
    <dgm:pt modelId="{N4}">
      <dgm:prSet/>
      <dgm:spPr/>
      <dgm:t>
        <a:bodyPr/>
        <a:lstStyle/>
        <a:p>
          <a:r>
            <a:rPr lang="en-GB"/>
            <a:t>General availability</a:t>
          </a:r>
        </a:p>
      </dgm:t>
    </dgm:pt>
    <dgm:pt modelId="{P1}" type="pres">
      <dgm:prSet presName="node" presStyleLbl="node1"/>
      <dgm:t>
        <a:bodyPr/>
        <a:p>
          <a:r>
            <a:t>PRESENTATION SCAFFOLD</a:t>
          </a:r>
        </a:p>
      </dgm:t>
    </dgm:pt>
    <dgm:pt modelId="{P2}" type="pres">
      <dgm:prSet presName="node" presStyleLbl="node1"/>
      <dgm:t>
        <a:bodyPr/>
        <a:p>
          <a:r>
            <a:t>PRESENTATION SCAFFOLD</a:t>
          </a:r>
        </a:p>
      </dgm:t>
    </dgm:pt>
    <dgm:pt modelId="{P3}" type="pres">
      <dgm:prSet presName="node" presStyleLbl="node1"/>
      <dgm:t>
        <a:bodyPr/>
        <a:p>
          <a:r>
            <a:t>PRESENTATION SCAFFOLD</a:t>
          </a:r>
        </a:p>
      </dgm:t>
    </dgm:pt>
    <dgm:pt modelId="{P4}" type="pres">
      <dgm:prSet presName="node" presStyleLbl="node1"/>
      <dgm:t>
        <a:bodyPr/>
        <a:p>
          <a:r>
            <a:t>PRESENTATION SCAFFOLD</a:t>
          </a:r>
        </a:p>
      </dgm:t>
    </dgm:pt>
  </dgm:ptLst>
  <dgm:cxnLst>
    <dgm:cxn modelId="{C1}" srcId="{D0}" destId="{N1}" srcOrd="0" destOrd="0" type="parOf"/>
    <dgm:cxn modelId="{C2}" srcId="{D0}" destId="{N2}" srcOrd="1" destOrd="0" type="parOf"/>
    <dgm:cxn modelId="{C3}" srcId="{D0}" destId="{N3}" srcOrd="2" destOrd="0" type="parOf"/>
    <dgm:cxn modelId="{C4}" srcId="{D0}" destId="{N4}" srcOrd="3" destOrd="0" type="parOf"/>
    <dgm:cxn modelId="{X1}" srcId="{D0}" destId="{P1}" srcOrd="0" destOrd="0" type="presOf"/>
    <dgm:cxn modelId="{X2}" srcId="{D0}" destId="{P2}" srcOrd="1" destOrd="0" type="presOf"/>
    <dgm:cxn modelId="{X3}" srcId="{D0}" destId="{P3}" srcOrd="2" destOrd="0" type="presOf"/>
    <dgm:cxn modelId="{X4}" srcId="{D0}" destId="{P4}" srcOrd="3" destOrd="0" type="presOf"/>
  </dgm:cxnLst>
  <dgm:bg/>
  <dgm:whole/>
</dgm:dataModel>
</file>

<file path=ppt/diagrams/layout1.xml><?xml version="1.0" encoding="utf-8"?>
<dgm:layoutDef xmlns:dgm="http://schemas.openxmlformats.org/drawingml/2006/diagram" uniqueId="urn:microsoft.com/office/officeart/2005/8/layout/process1">
  <dgm:title val="Basic Process"/>
  <dgm:desc val=""/>
  <dgm:catLst>
    <dgm:cat type="process" pri="1000"/>
  </dgm:catLst>
</dgm:layoutDef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n"/>
          <p:cNvSpPr/>
          <p:nvPr>
            <p:ph type="body" idx="1"/>
          </p:nvPr>
        </p:nvSpPr>
        <p:txBody>
          <a:bodyPr/>
          <a:p>
            <a:r>
              <a:t>Open with the revenue line.</a:t>
            </a:r>
          </a:p>
          <a:p>
            <a:r>
              <a:t>Then hand over to Sam.</a:t>
            </a:r>
          </a:p>
        </p:txBody>
      </p:sp>
    </p:spTree>
  </p:cSld>
</p:notes>
</file>

<file path=ppt/slides/_rels/slide1.xml.rels><?xml version="1.0" encoding="UTF-8"?><Relationships xmlns="http://schemas.openxmlformats.org/package/2006/relationships"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notesSlide" Target="../notesSlides/notesSlide1.xml"/><Relationship Id="rId9" Type="http://schemas.openxmlformats.org/officeDocument/2006/relationships/hyperlink" Target="https://example.com/docs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/Relationships>
</file>

<file path=ppt/slides/_rels/slide4.xml.rels><?xml version="1.0" encoding="UTF-8"?><Relationships xmlns="http://schemas.openxmlformats.org/package/2006/relationships"></Relationships>
</file>

<file path=ppt/slides/_rels/slide5.xml.rels><?xml version="1.0" encoding="UTF-8"?>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root"/>
        <p:cNvGrpSpPr/>
        <p:nvPr/>
      </p:nvGrpSpPr>
      <p:grpSpPr/>
      <p:sp>
        <p:nvSpPr>
          <p:cNvPr id="2" name="s2"/>
          <p:cNvSpPr/>
          <p:nvPr>
            <p:ph type="ctrTitle"/>
          </p:nvPr>
        </p:nvSpPr>
        <p:spPr/>
        <p:txBody>
          <a:bodyPr/>
          <a:p>
            <a:pPr lvl="0">
              <a:buNone/>
            </a:pPr>
            <a:r>
              <a:rPr lang="en"/>
              <a:t>Q3 &amp; Beyond</a:t>
            </a:r>
          </a:p>
        </p:txBody>
      </p:sp>
      <p:sp>
        <p:nvSpPr>
          <p:cNvPr id="3" name="s3"/>
          <p:cNvSpPr/>
          <p:nvPr>
            <p:ph type="subTitle"/>
          </p:nvPr>
        </p:nvSpPr>
        <p:spPr/>
        <p:txBody>
          <a:bodyPr/>
          <a:p>
            <a:pPr lvl="0">
              <a:buNone/>
            </a:pPr>
            <a:r>
              <a:rPr lang="en"/>
              <a:t>What shipped, what did not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root"/>
        <p:cNvGrpSpPr/>
        <p:nvPr/>
      </p:nvGrpSpPr>
      <p:grpSpPr/>
      <p:sp>
        <p:nvSpPr>
          <p:cNvPr id="2" name="s2"/>
          <p:cNvSpPr/>
          <p:nvPr>
            <p:ph type="title"/>
          </p:nvPr>
        </p:nvSpPr>
        <p:spPr/>
        <p:txBody>
          <a:bodyPr/>
          <a:p>
            <a:pPr lvl="0">
              <a:buNone/>
            </a:pPr>
            <a:r>
              <a:rPr lang="en"/>
              <a:t>Highlights</a:t>
            </a:r>
          </a:p>
        </p:txBody>
      </p:sp>
      <p:sp>
        <p:nvSpPr>
          <p:cNvPr id="5" name="s5"/>
          <p:cNvSpPr/>
          <p:nvPr>
            <p:ph type="body"/>
          </p:nvPr>
        </p:nvSpPr>
        <p:spPr/>
        <p:txBody>
          <a:bodyPr/>
          <a:p>
            <a:pPr lvl="0"/>
            <a:r>
              <a:rPr lang="en" b="1"/>
              <a:t>Revenue up</a:t>
            </a:r>
          </a:p>
          <a:p>
            <a:pPr lvl="1"/>
            <a:r>
              <a:rPr lang="en"/>
              <a:t>Europe led</a:t>
            </a:r>
          </a:p>
          <a:p>
            <a:pPr lvl="1"/>
            <a:r>
              <a:rPr lang="en"/>
              <a:t>APAC followed</a:t>
            </a:r>
          </a:p>
          <a:p>
            <a:pPr lvl="0"/>
            <a:r>
              <a:rPr lang="en"/>
              <a:t>Costs flat</a:t>
            </a:r>
          </a:p>
          <a:p>
            <a:pPr lvl="0"/>
            <a:r>
              <a:rPr lang="en">
                <a:hlinkClick r:id="rId9"/>
              </a:rPr>
              <a:t>See the docs</a:t>
            </a:r>
          </a:p>
        </p:txBody>
      </p:sp>
    </p:spTree>
  </p:cSld>
  <p:timing>
    <p:bldLst>
      <p:bldP spid="5" grpId="0"/>
    </p:bld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root"/>
        <p:cNvGrpSpPr/>
        <p:nvPr/>
      </p:nvGrpSpPr>
      <p:grpSpPr/>
      <p:sp>
        <p:nvSpPr>
          <p:cNvPr id="2" name="s2"/>
          <p:cNvSpPr/>
          <p:nvPr>
            <p:ph type="title"/>
          </p:nvPr>
        </p:nvSpPr>
        <p:spPr/>
        <p:txBody>
          <a:bodyPr/>
          <a:p>
            <a:pPr lvl="0">
              <a:buNone/>
            </a:pPr>
            <a:r>
              <a:rPr lang="en"/>
              <a:t>The numbers</a:t>
            </a:r>
          </a:p>
        </p:txBody>
      </p:sp>
      <p:graphicFrame>
        <p:nvGraphicFramePr>
          <p:cNvPr id="7" name="t"/>
          <p:cNvGraphicFramePr/>
          <p:nvPr/>
        </p:nvGraphicFramePr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Region</a:t>
                      </a:r>
                    </a:p>
                  </a:txBody>
                </a:tc>
                <a:tc>
                  <a:txBody>
                    <a:p>
                      <a:r>
                        <a:t>Growth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EMEA</a:t>
                      </a:r>
                    </a:p>
                  </a:txBody>
                </a:tc>
                <a:tc>
                  <a:txBody>
                    <a:p>
                      <a:r>
                        <a:t>12%</a:t>
                      </a:r>
                    </a:p>
                  </a:txBody>
                </a:tc>
              </a:tr>
            </a:tbl>
          </a:graphicData>
        </a:graphic>
      </p:graphicFrame>
      <p:pic>
        <p:nvPicPr>
          <p:cNvPr id="8" name="img" descr="The logo"/>
          <p:cNvPicPr/>
          <p:nvPr/>
        </p:nvPicPr>
        <p:blipFill>
          <a:blip r:embed="rId2"/>
        </p:blipFill>
        <p:spPr/>
      </p:pic>
      <p:graphicFrame>
        <p:nvGraphicFramePr>
          <p:cNvPr id="9" name="c"/>
          <p:cNvGraphicFramePr/>
          <p:nvPr/>
        </p:nvGraphicFramePr>
        <a:graphic>
          <a:graphicData uri="http://schemas.openxmlformats.org/drawingml/2006/chart"/>
        </a:graphic>
      </p:graphicFrame>
      <p:graphicFrame>
        <p:nvGraphicFramePr>
          <p:cNvPr id="10" name="d"/>
          <p:cNvGraphicFramePr/>
          <p:nvPr/>
        </p:nvGraphicFramePr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root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pPr>
              <a:buNone/>
            </a:pPr>
            <a:r>
              <a:rPr lang="en"/>
              <a:t>How an order flows</a:t>
            </a:r>
          </a:p>
        </p:txBody>
      </p:sp>
      <p:sp>
        <p:nvSpPr>
          <p:cNvPr id="3" name="Box A"/>
          <p:cNvSpPr/>
          <p:nvPr/>
        </p:nvSpPr>
        <p:spPr>
          <a:xfrm>
            <a:off x="571500" y="2190750"/>
            <a:ext cx="2095500" cy="914400"/>
          </a:xfrm>
          <a:prstGeom prst="roundRect">
            <a:avLst/>
          </a:prstGeom>
        </p:spPr>
        <p:txBody>
          <a:bodyPr/>
          <a:lstStyle/>
          <a:p>
            <a:pPr algn="ctr">
              <a:buNone/>
            </a:pPr>
            <a:r>
              <a:rPr lang="en"/>
              <a:t>Client</a:t>
            </a:r>
          </a:p>
        </p:txBody>
      </p:sp>
      <p:sp>
        <p:nvSpPr>
          <p:cNvPr id="4" name="Box B"/>
          <p:cNvSpPr/>
          <p:nvPr/>
        </p:nvSpPr>
        <p:spPr>
          <a:xfrm>
            <a:off x="4000500" y="2190750"/>
            <a:ext cx="2095500" cy="914400"/>
          </a:xfrm>
          <a:prstGeom prst="rect">
            <a:avLst/>
          </a:prstGeom>
        </p:spPr>
        <p:txBody>
          <a:bodyPr/>
          <a:lstStyle/>
          <a:p>
            <a:pPr algn="ctr">
              <a:buNone/>
            </a:pPr>
            <a:r>
              <a:rPr lang="en"/>
              <a:t>Order service</a:t>
            </a:r>
          </a:p>
        </p:txBody>
      </p:sp>
      <p:sp>
        <p:nvSpPr>
          <p:cNvPr id="5" name="Box C"/>
          <p:cNvSpPr/>
          <p:nvPr/>
        </p:nvSpPr>
        <p:spPr>
          <a:xfrm>
            <a:off x="7429500" y="2190750"/>
            <a:ext cx="2095500" cy="914400"/>
          </a:xfrm>
          <a:prstGeom prst="ellipse">
            <a:avLst/>
          </a:prstGeom>
        </p:spPr>
        <p:txBody>
          <a:bodyPr/>
          <a:lstStyle/>
          <a:p>
            <a:pPr algn="ctr">
              <a:buNone/>
            </a:pPr>
            <a:r>
              <a:rPr lang="en"/>
              <a:t>Ledger</a:t>
            </a:r>
          </a:p>
        </p:txBody>
      </p:sp>
      <p:cxnSp>
        <p:nvCxnSpPr>
          <p:cNvPr id="6" name="Connector 6"/>
          <p:cNvCxnSpPr>
            <a:stCxn id="3" idx="3"/>
            <a:endCxn id="4" idx="1"/>
          </p:cNvCxnSpPr>
          <p:nvPr/>
        </p:nvCxnSpPr>
        <p:spPr>
          <a:xfrm>
            <a:off x="0" y="0"/>
            <a:ext cx="1" cy="1"/>
          </a:xfrm>
          <a:prstGeom prst="straightConnector1">
            <a:avLst/>
          </a:prstGeom>
        </p:spPr>
      </p:cxnSp>
      <p:cxnSp>
        <p:nvCxnSpPr>
          <p:cNvPr id="7" name="Connector 7"/>
          <p:cNvCxnSpPr>
            <a:stCxn id="4" idx="3"/>
            <a:endCxn id="5" idx="1"/>
          </p:cNvCxnSpPr>
          <p:nvPr/>
        </p:nvCxnSpPr>
        <p:spPr>
          <a:xfrm>
            <a:off x="0" y="0"/>
            <a:ext cx="1" cy="1"/>
          </a:xfrm>
          <a:prstGeom prst="straightConnector1">
            <a:avLst/>
          </a:prstGeom>
        </p:spPr>
      </p:cxn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="0">
  <p:cSld>
    <p:spTree>
      <p:nvGrpSpPr>
        <p:cNvPr id="1" name="root"/>
        <p:cNvGrpSpPr/>
        <p:nvPr/>
      </p:nvGrpSpPr>
      <p:grpSpPr/>
      <p:sp>
        <p:nvSpPr>
          <p:cNvPr id="2" name="s2"/>
          <p:cNvSpPr/>
          <p:nvPr>
            <p:ph type="title"/>
          </p:nvPr>
        </p:nvSpPr>
        <p:spPr/>
        <p:txBody>
          <a:bodyPr/>
          <a:p>
            <a:pPr lvl="0">
              <a:buNone/>
            </a:pPr>
            <a:r>
              <a:rPr lang="en"/>
              <a:t>Backup detail</a:t>
            </a:r>
          </a:p>
        </p:txBody>
      </p:sp>
    </p:spTree>
  </p:cSld>
</p:sld>
</file>